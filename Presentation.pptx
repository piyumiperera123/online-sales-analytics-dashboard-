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12" r:id="rId1"/>
  </p:sldMasterIdLst>
  <p:notesMasterIdLst>
    <p:notesMasterId r:id="rId7"/>
  </p:notesMasterIdLst>
  <p:sldIdLst>
    <p:sldId id="256" r:id="rId2"/>
    <p:sldId id="257" r:id="rId3"/>
    <p:sldId id="258" r:id="rId4"/>
    <p:sldId id="259" r:id="rId5"/>
    <p:sldId id="261" r:id="rId6"/>
  </p:sldIdLst>
  <p:sldSz cx="18288000" cy="10287000"/>
  <p:notesSz cx="6858000" cy="9144000"/>
  <p:embeddedFontLst>
    <p:embeddedFont>
      <p:font typeface="Open Sauce" panose="020B0604020202020204" charset="0"/>
      <p:regular r:id="rId8"/>
    </p:embeddedFont>
    <p:embeddedFont>
      <p:font typeface="Open Sauce Bold" panose="020B0604020202020204" charset="0"/>
      <p:regular r:id="rId9"/>
    </p:embeddedFont>
    <p:embeddedFont>
      <p:font typeface="Pristina" panose="03060402040406080204" pitchFamily="66" charset="0"/>
      <p:regular r:id="rId10"/>
    </p:embeddedFont>
    <p:embeddedFont>
      <p:font typeface="Trebuchet MS" panose="020B0603020202020204" pitchFamily="34" charset="0"/>
      <p:regular r:id="rId11"/>
      <p:bold r:id="rId12"/>
      <p:italic r:id="rId13"/>
      <p:boldItalic r:id="rId14"/>
    </p:embeddedFont>
    <p:embeddedFont>
      <p:font typeface="Wingdings 3" panose="05040102010807070707" pitchFamily="18" charset="2"/>
      <p:regular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946"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44164F-EB80-4F11-A280-318B510CA2ED}" type="datetimeFigureOut">
              <a:rPr lang="en-US" smtClean="0"/>
              <a:t>7/17/2025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E43DFA-1B42-4957-A4FE-5E05AF67EE94}" type="slidenum">
              <a:rPr lang="en-US" smtClean="0"/>
              <a:t>‹#›</a:t>
            </a:fld>
            <a:endParaRPr lang="en-US"/>
          </a:p>
        </p:txBody>
      </p:sp>
    </p:spTree>
    <p:extLst>
      <p:ext uri="{BB962C8B-B14F-4D97-AF65-F5344CB8AC3E}">
        <p14:creationId xmlns:p14="http://schemas.microsoft.com/office/powerpoint/2010/main" val="3685401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2260601" y="3606801"/>
            <a:ext cx="11650404" cy="2469453"/>
          </a:xfrm>
        </p:spPr>
        <p:txBody>
          <a:bodyPr anchor="b">
            <a:noAutofit/>
          </a:bodyPr>
          <a:lstStyle>
            <a:lvl1pPr algn="r">
              <a:defRPr sz="81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260601" y="6076250"/>
            <a:ext cx="11650404" cy="1645349"/>
          </a:xfrm>
        </p:spPr>
        <p:txBody>
          <a:bodyPr anchor="t"/>
          <a:lstStyle>
            <a:lvl1pPr marL="0" indent="0" algn="r">
              <a:buNone/>
              <a:defRPr>
                <a:solidFill>
                  <a:schemeClr val="tx1">
                    <a:lumMod val="50000"/>
                    <a:lumOff val="5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46966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92740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6003" y="4051301"/>
            <a:ext cx="12895002" cy="2739872"/>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1290600"/>
          </a:xfrm>
        </p:spPr>
        <p:txBody>
          <a:bodyPr anchor="t"/>
          <a:lstStyle>
            <a:lvl1pPr marL="0" indent="0" algn="l">
              <a:buNone/>
              <a:defRPr sz="30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38178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6002" y="3240884"/>
            <a:ext cx="6276053" cy="5821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34955" y="3240884"/>
            <a:ext cx="6276051" cy="5821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70349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3618" y="3241475"/>
            <a:ext cx="6278435"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013618" y="4105868"/>
            <a:ext cx="6278435"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32575" y="3241475"/>
            <a:ext cx="6278427"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7632577" y="4105868"/>
            <a:ext cx="6278426"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7/17/2025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23964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16001" y="914400"/>
            <a:ext cx="12895002" cy="19812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7/17/2025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36877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16562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1" y="2247906"/>
            <a:ext cx="5781792" cy="1917699"/>
          </a:xfrm>
        </p:spPr>
        <p:txBody>
          <a:bodyPr anchor="b">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7140692" y="772387"/>
            <a:ext cx="6770312" cy="82896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16001" y="4165604"/>
            <a:ext cx="5781792" cy="3876674"/>
          </a:xfrm>
        </p:spPr>
        <p:txBody>
          <a:bodyPr>
            <a:normAutofit/>
          </a:bodyPr>
          <a:lstStyle>
            <a:lvl1pPr marL="0" indent="0">
              <a:buNone/>
              <a:defRPr sz="2100"/>
            </a:lvl1pPr>
            <a:lvl2pPr marL="685595" indent="0">
              <a:buNone/>
              <a:defRPr sz="2100"/>
            </a:lvl2pPr>
            <a:lvl3pPr marL="1371189" indent="0">
              <a:buNone/>
              <a:defRPr sz="1800"/>
            </a:lvl3pPr>
            <a:lvl4pPr marL="2056784" indent="0">
              <a:buNone/>
              <a:defRPr sz="1500"/>
            </a:lvl4pPr>
            <a:lvl5pPr marL="2742377" indent="0">
              <a:buNone/>
              <a:defRPr sz="1500"/>
            </a:lvl5pPr>
            <a:lvl6pPr marL="3427971" indent="0">
              <a:buNone/>
              <a:defRPr sz="1500"/>
            </a:lvl6pPr>
            <a:lvl7pPr marL="4113566" indent="0">
              <a:buNone/>
              <a:defRPr sz="1500"/>
            </a:lvl7pPr>
            <a:lvl8pPr marL="4799160" indent="0">
              <a:buNone/>
              <a:defRPr sz="1500"/>
            </a:lvl8pPr>
            <a:lvl9pPr marL="5484755"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1185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2" y="7200900"/>
            <a:ext cx="12895001"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16001" y="914400"/>
            <a:ext cx="12895002" cy="5768577"/>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16002" y="8051007"/>
            <a:ext cx="12895001" cy="1011036"/>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1372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3" y="914400"/>
            <a:ext cx="12895002" cy="5105400"/>
          </a:xfrm>
        </p:spPr>
        <p:txBody>
          <a:bodyPr anchor="ctr">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79017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2049209" y="5448300"/>
            <a:ext cx="10836786"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0" name="TextBox 19"/>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latin typeface="Arial"/>
              </a:rPr>
              <a:t>”</a:t>
            </a:r>
            <a:endParaRPr lang="en-US" sz="2700" dirty="0">
              <a:solidFill>
                <a:schemeClr val="accent1">
                  <a:lumMod val="60000"/>
                  <a:lumOff val="40000"/>
                </a:schemeClr>
              </a:solidFill>
              <a:latin typeface="Arial"/>
            </a:endParaRPr>
          </a:p>
        </p:txBody>
      </p:sp>
    </p:spTree>
    <p:extLst>
      <p:ext uri="{BB962C8B-B14F-4D97-AF65-F5344CB8AC3E}">
        <p14:creationId xmlns:p14="http://schemas.microsoft.com/office/powerpoint/2010/main" val="1726935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016003" y="2897982"/>
            <a:ext cx="12895002" cy="3893190"/>
          </a:xfrm>
        </p:spPr>
        <p:txBody>
          <a:bodyPr anchor="b">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73772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tx1">
                    <a:lumMod val="75000"/>
                    <a:lumOff val="25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58307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028699" y="914400"/>
            <a:ext cx="12882305"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469338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53793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951510" y="914399"/>
            <a:ext cx="1957115" cy="787717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016003" y="914400"/>
            <a:ext cx="10590225" cy="787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84495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016001" y="914400"/>
            <a:ext cx="12895002" cy="19812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16001" y="3240884"/>
            <a:ext cx="12895002" cy="5821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807700" y="9062044"/>
            <a:ext cx="1367909" cy="547688"/>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pPr/>
              <a:t>7/17/2025</a:t>
            </a:fld>
            <a:endParaRPr lang="en-US"/>
          </a:p>
        </p:txBody>
      </p:sp>
      <p:sp>
        <p:nvSpPr>
          <p:cNvPr id="5" name="Footer Placeholder 4"/>
          <p:cNvSpPr>
            <a:spLocks noGrp="1"/>
          </p:cNvSpPr>
          <p:nvPr>
            <p:ph type="ftr" sz="quarter" idx="3"/>
          </p:nvPr>
        </p:nvSpPr>
        <p:spPr>
          <a:xfrm>
            <a:off x="1016001" y="9062044"/>
            <a:ext cx="9446418"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885995" y="9062044"/>
            <a:ext cx="1025009" cy="547688"/>
          </a:xfrm>
          <a:prstGeom prst="rect">
            <a:avLst/>
          </a:prstGeom>
        </p:spPr>
        <p:txBody>
          <a:bodyPr vert="horz" lIns="91440" tIns="45720" rIns="91440" bIns="45720" rtlCol="0" anchor="ctr"/>
          <a:lstStyle>
            <a:lvl1pPr algn="r">
              <a:defRPr sz="135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45174675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Lst>
  <p:txStyles>
    <p:titleStyle>
      <a:lvl1pPr algn="l" defTabSz="6858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hyperlink" Target="https://www.kaggle.com/datasets/jacksondivakarr/online-shopping-dataset"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25000"/>
          </a:schemeClr>
        </a:solidFill>
        <a:effectLst/>
      </p:bgPr>
    </p:bg>
    <p:spTree>
      <p:nvGrpSpPr>
        <p:cNvPr id="1" name=""/>
        <p:cNvGrpSpPr/>
        <p:nvPr/>
      </p:nvGrpSpPr>
      <p:grpSpPr>
        <a:xfrm>
          <a:off x="0" y="0"/>
          <a:ext cx="0" cy="0"/>
          <a:chOff x="0" y="0"/>
          <a:chExt cx="0" cy="0"/>
        </a:xfrm>
      </p:grpSpPr>
      <p:sp>
        <p:nvSpPr>
          <p:cNvPr id="6" name="Freeform 6"/>
          <p:cNvSpPr/>
          <p:nvPr/>
        </p:nvSpPr>
        <p:spPr>
          <a:xfrm>
            <a:off x="10744200" y="1526000"/>
            <a:ext cx="7234999" cy="7234999"/>
          </a:xfrm>
          <a:custGeom>
            <a:avLst/>
            <a:gdLst/>
            <a:ahLst/>
            <a:cxnLst/>
            <a:rect l="l" t="t" r="r" b="b"/>
            <a:pathLst>
              <a:path w="7234999" h="7234999">
                <a:moveTo>
                  <a:pt x="0" y="0"/>
                </a:moveTo>
                <a:lnTo>
                  <a:pt x="7234999" y="0"/>
                </a:lnTo>
                <a:lnTo>
                  <a:pt x="7234999" y="7234999"/>
                </a:lnTo>
                <a:lnTo>
                  <a:pt x="0" y="72349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grpSp>
        <p:nvGrpSpPr>
          <p:cNvPr id="7" name="Group 7"/>
          <p:cNvGrpSpPr/>
          <p:nvPr/>
        </p:nvGrpSpPr>
        <p:grpSpPr>
          <a:xfrm>
            <a:off x="11417909" y="2199721"/>
            <a:ext cx="5887580" cy="5887556"/>
            <a:chOff x="0" y="0"/>
            <a:chExt cx="6350000" cy="6349975"/>
          </a:xfrm>
        </p:grpSpPr>
        <p:sp>
          <p:nvSpPr>
            <p:cNvPr id="8" name="Freeform 8"/>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txBody>
            <a:bodyPr/>
            <a:lstStyle/>
            <a:p>
              <a:endParaRPr lang="en-US"/>
            </a:p>
          </p:txBody>
        </p:sp>
      </p:grpSp>
      <p:grpSp>
        <p:nvGrpSpPr>
          <p:cNvPr id="9" name="Group 9"/>
          <p:cNvGrpSpPr/>
          <p:nvPr/>
        </p:nvGrpSpPr>
        <p:grpSpPr>
          <a:xfrm>
            <a:off x="1028700" y="1028700"/>
            <a:ext cx="93931" cy="2968202"/>
            <a:chOff x="0" y="0"/>
            <a:chExt cx="24739" cy="781749"/>
          </a:xfrm>
          <a:solidFill>
            <a:schemeClr val="accent2">
              <a:lumMod val="50000"/>
            </a:schemeClr>
          </a:solidFill>
        </p:grpSpPr>
        <p:sp>
          <p:nvSpPr>
            <p:cNvPr id="10" name="Freeform 10"/>
            <p:cNvSpPr/>
            <p:nvPr/>
          </p:nvSpPr>
          <p:spPr>
            <a:xfrm>
              <a:off x="0" y="0"/>
              <a:ext cx="24739" cy="781749"/>
            </a:xfrm>
            <a:custGeom>
              <a:avLst/>
              <a:gdLst/>
              <a:ahLst/>
              <a:cxnLst/>
              <a:rect l="l" t="t" r="r" b="b"/>
              <a:pathLst>
                <a:path w="24739" h="781749">
                  <a:moveTo>
                    <a:pt x="0" y="0"/>
                  </a:moveTo>
                  <a:lnTo>
                    <a:pt x="24739" y="0"/>
                  </a:lnTo>
                  <a:lnTo>
                    <a:pt x="24739" y="781749"/>
                  </a:lnTo>
                  <a:lnTo>
                    <a:pt x="0" y="781749"/>
                  </a:lnTo>
                  <a:close/>
                </a:path>
              </a:pathLst>
            </a:custGeom>
            <a:grpFill/>
            <a:ln cap="sq">
              <a:noFill/>
              <a:prstDash val="solid"/>
              <a:miter/>
            </a:ln>
          </p:spPr>
          <p:txBody>
            <a:bodyPr/>
            <a:lstStyle/>
            <a:p>
              <a:endParaRPr lang="en-US"/>
            </a:p>
          </p:txBody>
        </p:sp>
        <p:sp>
          <p:nvSpPr>
            <p:cNvPr id="11" name="TextBox 11"/>
            <p:cNvSpPr txBox="1"/>
            <p:nvPr/>
          </p:nvSpPr>
          <p:spPr>
            <a:xfrm>
              <a:off x="0" y="-19050"/>
              <a:ext cx="24739" cy="800799"/>
            </a:xfrm>
            <a:prstGeom prst="rect">
              <a:avLst/>
            </a:prstGeom>
            <a:grpFill/>
          </p:spPr>
          <p:txBody>
            <a:bodyPr lIns="50800" tIns="50800" rIns="50800" bIns="50800" rtlCol="0" anchor="ctr"/>
            <a:lstStyle/>
            <a:p>
              <a:pPr marL="0" lvl="0" indent="0" algn="ctr">
                <a:lnSpc>
                  <a:spcPts val="2859"/>
                </a:lnSpc>
                <a:spcBef>
                  <a:spcPct val="0"/>
                </a:spcBef>
              </a:pPr>
              <a:endParaRPr/>
            </a:p>
          </p:txBody>
        </p:sp>
      </p:grpSp>
      <p:sp>
        <p:nvSpPr>
          <p:cNvPr id="12" name="TextBox 12"/>
          <p:cNvSpPr txBox="1"/>
          <p:nvPr/>
        </p:nvSpPr>
        <p:spPr>
          <a:xfrm>
            <a:off x="1602823" y="799641"/>
            <a:ext cx="11562045" cy="1467005"/>
          </a:xfrm>
          <a:prstGeom prst="rect">
            <a:avLst/>
          </a:prstGeom>
        </p:spPr>
        <p:txBody>
          <a:bodyPr wrap="square" lIns="0" tIns="0" rIns="0" bIns="0" rtlCol="0" anchor="t">
            <a:spAutoFit/>
          </a:bodyPr>
          <a:lstStyle/>
          <a:p>
            <a:pPr algn="l">
              <a:lnSpc>
                <a:spcPts val="12846"/>
              </a:lnSpc>
            </a:pPr>
            <a:r>
              <a:rPr lang="en-US" sz="8000" b="1" spc="-183" dirty="0">
                <a:solidFill>
                  <a:schemeClr val="accent2">
                    <a:lumMod val="50000"/>
                  </a:schemeClr>
                </a:solidFill>
                <a:latin typeface="Open Sauce Bold" panose="020B0604020202020204" charset="0"/>
                <a:ea typeface="Open Sauce Bold"/>
                <a:cs typeface="Open Sauce Bold"/>
                <a:sym typeface="Open Sauce Bold"/>
              </a:rPr>
              <a:t>Online Shopping </a:t>
            </a:r>
            <a:r>
              <a:rPr lang="en-US" sz="8000" b="1" dirty="0">
                <a:solidFill>
                  <a:schemeClr val="accent2">
                    <a:lumMod val="50000"/>
                  </a:schemeClr>
                </a:solidFill>
                <a:latin typeface="Open Sauce Bold" panose="020B0604020202020204" charset="0"/>
              </a:rPr>
              <a:t>Sales</a:t>
            </a:r>
            <a:r>
              <a:rPr lang="en-US" sz="8000" b="1" spc="-183" dirty="0">
                <a:solidFill>
                  <a:schemeClr val="accent2">
                    <a:lumMod val="50000"/>
                  </a:schemeClr>
                </a:solidFill>
                <a:latin typeface="Open Sauce Bold" panose="020B0604020202020204" charset="0"/>
                <a:ea typeface="Open Sauce Bold"/>
                <a:cs typeface="Open Sauce Bold"/>
                <a:sym typeface="Open Sauce Bold"/>
              </a:rPr>
              <a:t> </a:t>
            </a:r>
          </a:p>
        </p:txBody>
      </p:sp>
      <p:sp>
        <p:nvSpPr>
          <p:cNvPr id="13" name="TextBox 13"/>
          <p:cNvSpPr txBox="1"/>
          <p:nvPr/>
        </p:nvSpPr>
        <p:spPr>
          <a:xfrm>
            <a:off x="3048000" y="5829300"/>
            <a:ext cx="2380287" cy="702436"/>
          </a:xfrm>
          <a:prstGeom prst="rect">
            <a:avLst/>
          </a:prstGeom>
        </p:spPr>
        <p:txBody>
          <a:bodyPr wrap="square" lIns="0" tIns="0" rIns="0" bIns="0" rtlCol="0" anchor="t">
            <a:spAutoFit/>
          </a:bodyPr>
          <a:lstStyle/>
          <a:p>
            <a:pPr marL="0" lvl="0" indent="0" algn="ctr">
              <a:lnSpc>
                <a:spcPts val="6224"/>
              </a:lnSpc>
              <a:spcBef>
                <a:spcPct val="0"/>
              </a:spcBef>
            </a:pPr>
            <a:r>
              <a:rPr lang="en-US" sz="3600" b="1" spc="-88" dirty="0">
                <a:solidFill>
                  <a:schemeClr val="tx1">
                    <a:lumMod val="75000"/>
                    <a:lumOff val="25000"/>
                  </a:schemeClr>
                </a:solidFill>
                <a:latin typeface="Open Sauce Bold"/>
                <a:ea typeface="Open Sauce Bold"/>
                <a:cs typeface="Open Sauce Bold"/>
                <a:sym typeface="Open Sauce Bold"/>
              </a:rPr>
              <a:t>Group 6</a:t>
            </a:r>
          </a:p>
        </p:txBody>
      </p:sp>
      <p:sp>
        <p:nvSpPr>
          <p:cNvPr id="14" name="TextBox 14"/>
          <p:cNvSpPr txBox="1"/>
          <p:nvPr/>
        </p:nvSpPr>
        <p:spPr>
          <a:xfrm>
            <a:off x="1909198" y="6702335"/>
            <a:ext cx="7186827" cy="2145074"/>
          </a:xfrm>
          <a:prstGeom prst="rect">
            <a:avLst/>
          </a:prstGeom>
        </p:spPr>
        <p:txBody>
          <a:bodyPr wrap="square" lIns="0" tIns="0" rIns="0" bIns="0" rtlCol="0" anchor="t">
            <a:spAutoFit/>
          </a:bodyPr>
          <a:lstStyle/>
          <a:p>
            <a:pPr algn="l">
              <a:lnSpc>
                <a:spcPts val="4345"/>
              </a:lnSpc>
            </a:pPr>
            <a:r>
              <a:rPr lang="en-US" sz="2618" dirty="0">
                <a:solidFill>
                  <a:schemeClr val="tx1">
                    <a:lumMod val="95000"/>
                    <a:lumOff val="5000"/>
                  </a:schemeClr>
                </a:solidFill>
                <a:latin typeface="Open Sauce Bold" panose="020B0604020202020204" charset="0"/>
                <a:ea typeface="Open Sauce"/>
                <a:cs typeface="Open Sauce"/>
                <a:sym typeface="Open Sauce"/>
              </a:rPr>
              <a:t>Navod G. P. H. P.       s16338</a:t>
            </a:r>
          </a:p>
          <a:p>
            <a:pPr algn="l">
              <a:lnSpc>
                <a:spcPts val="4345"/>
              </a:lnSpc>
            </a:pPr>
            <a:r>
              <a:rPr lang="en-US" sz="2618" dirty="0">
                <a:solidFill>
                  <a:schemeClr val="tx1">
                    <a:lumMod val="95000"/>
                    <a:lumOff val="5000"/>
                  </a:schemeClr>
                </a:solidFill>
                <a:latin typeface="Open Sauce Bold" panose="020B0604020202020204" charset="0"/>
                <a:ea typeface="Open Sauce"/>
                <a:cs typeface="Open Sauce"/>
                <a:sym typeface="Open Sauce"/>
              </a:rPr>
              <a:t>Niroshan K. G. Y.       s16339</a:t>
            </a:r>
          </a:p>
          <a:p>
            <a:pPr algn="l">
              <a:lnSpc>
                <a:spcPts val="4345"/>
              </a:lnSpc>
            </a:pPr>
            <a:r>
              <a:rPr lang="en-US" sz="2618" dirty="0">
                <a:solidFill>
                  <a:schemeClr val="tx1">
                    <a:lumMod val="95000"/>
                    <a:lumOff val="5000"/>
                  </a:schemeClr>
                </a:solidFill>
                <a:latin typeface="Open Sauce Bold" panose="020B0604020202020204" charset="0"/>
                <a:ea typeface="Open Sauce"/>
                <a:cs typeface="Open Sauce"/>
                <a:sym typeface="Open Sauce"/>
              </a:rPr>
              <a:t>Pathum K. T.               s16342</a:t>
            </a:r>
          </a:p>
          <a:p>
            <a:pPr algn="l">
              <a:lnSpc>
                <a:spcPts val="4345"/>
              </a:lnSpc>
            </a:pPr>
            <a:r>
              <a:rPr lang="en-US" sz="2618" dirty="0">
                <a:solidFill>
                  <a:schemeClr val="tx1">
                    <a:lumMod val="95000"/>
                    <a:lumOff val="5000"/>
                  </a:schemeClr>
                </a:solidFill>
                <a:latin typeface="Open Sauce Bold" panose="020B0604020202020204" charset="0"/>
                <a:ea typeface="Open Sauce"/>
                <a:cs typeface="Open Sauce"/>
                <a:sym typeface="Open Sauce"/>
              </a:rPr>
              <a:t>Perera H. A. P. S.       s16343</a:t>
            </a:r>
          </a:p>
        </p:txBody>
      </p:sp>
      <p:sp>
        <p:nvSpPr>
          <p:cNvPr id="15" name="TextBox 15"/>
          <p:cNvSpPr txBox="1"/>
          <p:nvPr/>
        </p:nvSpPr>
        <p:spPr>
          <a:xfrm>
            <a:off x="1559135" y="2700479"/>
            <a:ext cx="6387592" cy="861326"/>
          </a:xfrm>
          <a:prstGeom prst="rect">
            <a:avLst/>
          </a:prstGeom>
        </p:spPr>
        <p:txBody>
          <a:bodyPr lIns="0" tIns="0" rIns="0" bIns="0" rtlCol="0" anchor="t">
            <a:spAutoFit/>
          </a:bodyPr>
          <a:lstStyle/>
          <a:p>
            <a:pPr algn="ctr">
              <a:lnSpc>
                <a:spcPts val="7279"/>
              </a:lnSpc>
              <a:spcBef>
                <a:spcPct val="0"/>
              </a:spcBef>
            </a:pPr>
            <a:r>
              <a:rPr lang="en-US" sz="5400" b="1" dirty="0">
                <a:solidFill>
                  <a:srgbClr val="545454"/>
                </a:solidFill>
                <a:latin typeface="Open Sauce Bold"/>
                <a:ea typeface="Open Sauce Bold"/>
                <a:cs typeface="Open Sauce Bold"/>
                <a:sym typeface="Open Sauce Bold"/>
              </a:rPr>
              <a:t>Trends &amp; Insights</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25000"/>
          </a:schemeClr>
        </a:solidFill>
        <a:effectLst/>
      </p:bgPr>
    </p:bg>
    <p:spTree>
      <p:nvGrpSpPr>
        <p:cNvPr id="1" name=""/>
        <p:cNvGrpSpPr/>
        <p:nvPr/>
      </p:nvGrpSpPr>
      <p:grpSpPr>
        <a:xfrm>
          <a:off x="0" y="0"/>
          <a:ext cx="0" cy="0"/>
          <a:chOff x="0" y="0"/>
          <a:chExt cx="0" cy="0"/>
        </a:xfrm>
      </p:grpSpPr>
      <p:sp>
        <p:nvSpPr>
          <p:cNvPr id="23" name="TextBox 23"/>
          <p:cNvSpPr txBox="1"/>
          <p:nvPr/>
        </p:nvSpPr>
        <p:spPr>
          <a:xfrm>
            <a:off x="533400" y="811279"/>
            <a:ext cx="7027801" cy="754950"/>
          </a:xfrm>
          <a:prstGeom prst="rect">
            <a:avLst/>
          </a:prstGeom>
        </p:spPr>
        <p:txBody>
          <a:bodyPr lIns="0" tIns="0" rIns="0" bIns="0" rtlCol="0" anchor="t">
            <a:spAutoFit/>
          </a:bodyPr>
          <a:lstStyle/>
          <a:p>
            <a:pPr marL="0" lvl="0" indent="0" algn="ctr">
              <a:lnSpc>
                <a:spcPts val="6487"/>
              </a:lnSpc>
              <a:spcBef>
                <a:spcPct val="0"/>
              </a:spcBef>
            </a:pPr>
            <a:r>
              <a:rPr lang="en-US" sz="4000" b="1" spc="-92" dirty="0">
                <a:solidFill>
                  <a:schemeClr val="accent2">
                    <a:lumMod val="50000"/>
                  </a:schemeClr>
                </a:solidFill>
                <a:latin typeface="Open Sauce Bold"/>
                <a:ea typeface="Open Sauce Bold"/>
                <a:cs typeface="Open Sauce Bold"/>
                <a:sym typeface="Open Sauce Bold"/>
              </a:rPr>
              <a:t>Problem Statement</a:t>
            </a:r>
          </a:p>
        </p:txBody>
      </p:sp>
      <p:sp>
        <p:nvSpPr>
          <p:cNvPr id="24" name="TextBox 24"/>
          <p:cNvSpPr txBox="1"/>
          <p:nvPr/>
        </p:nvSpPr>
        <p:spPr>
          <a:xfrm>
            <a:off x="1295400" y="6183869"/>
            <a:ext cx="4758957" cy="712696"/>
          </a:xfrm>
          <a:prstGeom prst="rect">
            <a:avLst/>
          </a:prstGeom>
        </p:spPr>
        <p:txBody>
          <a:bodyPr lIns="0" tIns="0" rIns="0" bIns="0" rtlCol="0" anchor="t">
            <a:spAutoFit/>
          </a:bodyPr>
          <a:lstStyle/>
          <a:p>
            <a:pPr algn="ctr">
              <a:lnSpc>
                <a:spcPts val="5979"/>
              </a:lnSpc>
              <a:spcBef>
                <a:spcPct val="0"/>
              </a:spcBef>
            </a:pPr>
            <a:r>
              <a:rPr lang="en-US" sz="4000" b="1" dirty="0">
                <a:solidFill>
                  <a:schemeClr val="accent2">
                    <a:lumMod val="50000"/>
                  </a:schemeClr>
                </a:solidFill>
                <a:latin typeface="Open Sauce Bold"/>
                <a:ea typeface="Open Sauce Bold"/>
                <a:cs typeface="Open Sauce Bold"/>
                <a:sym typeface="Open Sauce Bold"/>
              </a:rPr>
              <a:t>Dataset Source</a:t>
            </a:r>
          </a:p>
        </p:txBody>
      </p:sp>
      <p:sp>
        <p:nvSpPr>
          <p:cNvPr id="25" name="TextBox 25"/>
          <p:cNvSpPr txBox="1"/>
          <p:nvPr/>
        </p:nvSpPr>
        <p:spPr>
          <a:xfrm>
            <a:off x="1671430" y="7235766"/>
            <a:ext cx="13443617" cy="2211567"/>
          </a:xfrm>
          <a:prstGeom prst="rect">
            <a:avLst/>
          </a:prstGeom>
        </p:spPr>
        <p:txBody>
          <a:bodyPr lIns="0" tIns="0" rIns="0" bIns="0" rtlCol="0" anchor="t">
            <a:spAutoFit/>
          </a:bodyPr>
          <a:lstStyle/>
          <a:p>
            <a:pPr algn="just">
              <a:lnSpc>
                <a:spcPts val="3509"/>
              </a:lnSpc>
            </a:pPr>
            <a:r>
              <a:rPr lang="en-US" sz="2800" spc="43" dirty="0">
                <a:solidFill>
                  <a:srgbClr val="000000"/>
                </a:solidFill>
                <a:latin typeface="Open Sauce"/>
                <a:ea typeface="Open Sauce"/>
                <a:cs typeface="Open Sauce"/>
                <a:sym typeface="Open Sauce"/>
              </a:rPr>
              <a:t>The dataset is sourced from Kaggle and it contains online shopping transaction records.</a:t>
            </a:r>
          </a:p>
          <a:p>
            <a:pPr algn="l">
              <a:lnSpc>
                <a:spcPts val="3509"/>
              </a:lnSpc>
            </a:pPr>
            <a:r>
              <a:rPr lang="en-US" sz="2800" spc="43" dirty="0">
                <a:solidFill>
                  <a:srgbClr val="0070C0"/>
                </a:solidFill>
                <a:latin typeface="Open Sauce"/>
                <a:ea typeface="Open Sauce"/>
                <a:cs typeface="Open Sauce"/>
                <a:sym typeface="Open Sauce"/>
                <a:hlinkClick r:id="rId2">
                  <a:extLst>
                    <a:ext uri="{A12FA001-AC4F-418D-AE19-62706E023703}">
                      <ahyp:hlinkClr xmlns:ahyp="http://schemas.microsoft.com/office/drawing/2018/hyperlinkcolor" val="tx"/>
                    </a:ext>
                  </a:extLst>
                </a:hlinkClick>
              </a:rPr>
              <a:t>https://www.kaggle.com/datasets/jacksondivakarr/online-shopping-dataset</a:t>
            </a:r>
            <a:r>
              <a:rPr lang="en-US" sz="2800" spc="43" dirty="0">
                <a:solidFill>
                  <a:srgbClr val="0070C0"/>
                </a:solidFill>
                <a:latin typeface="Open Sauce"/>
                <a:ea typeface="Open Sauce"/>
                <a:cs typeface="Open Sauce"/>
                <a:sym typeface="Open Sauce"/>
              </a:rPr>
              <a:t> </a:t>
            </a:r>
          </a:p>
          <a:p>
            <a:pPr algn="just">
              <a:lnSpc>
                <a:spcPts val="3509"/>
              </a:lnSpc>
              <a:spcBef>
                <a:spcPct val="0"/>
              </a:spcBef>
            </a:pPr>
            <a:endParaRPr lang="en-US" sz="2699" spc="43" dirty="0">
              <a:solidFill>
                <a:srgbClr val="000000"/>
              </a:solidFill>
              <a:latin typeface="Open Sauce"/>
              <a:ea typeface="Open Sauce"/>
              <a:cs typeface="Open Sauce"/>
              <a:sym typeface="Open Sauce"/>
            </a:endParaRPr>
          </a:p>
        </p:txBody>
      </p:sp>
      <p:sp>
        <p:nvSpPr>
          <p:cNvPr id="26" name="TextBox 26"/>
          <p:cNvSpPr txBox="1"/>
          <p:nvPr/>
        </p:nvSpPr>
        <p:spPr>
          <a:xfrm>
            <a:off x="1671430" y="1945450"/>
            <a:ext cx="12304376" cy="3859198"/>
          </a:xfrm>
          <a:prstGeom prst="rect">
            <a:avLst/>
          </a:prstGeom>
        </p:spPr>
        <p:txBody>
          <a:bodyPr wrap="square" lIns="0" tIns="0" rIns="0" bIns="0" rtlCol="0" anchor="t">
            <a:spAutoFit/>
          </a:bodyPr>
          <a:lstStyle/>
          <a:p>
            <a:pPr algn="just">
              <a:lnSpc>
                <a:spcPts val="3824"/>
              </a:lnSpc>
              <a:spcBef>
                <a:spcPct val="0"/>
              </a:spcBef>
            </a:pPr>
            <a:r>
              <a:rPr lang="en-US" sz="2800" dirty="0">
                <a:solidFill>
                  <a:srgbClr val="000000"/>
                </a:solidFill>
                <a:latin typeface="Open Sauce"/>
                <a:ea typeface="Open Sauce"/>
                <a:cs typeface="Open Sauce"/>
                <a:sym typeface="Open Sauce"/>
              </a:rPr>
              <a:t>The online shopping business is facing challenges in identifying sales trends, which are essential for management to understand key factors influencing revenue. There is a need for deeper insights into product performance, customer purchasing behavior, and sales trends over time. Our aim is to uncover patterns in revenue, customer demographics, and the impact of pricing, enabling data-driven decisions to optimize marketing strategies and enhance overall business performance</a:t>
            </a:r>
            <a:r>
              <a:rPr lang="en-US" sz="2731" dirty="0">
                <a:solidFill>
                  <a:srgbClr val="000000"/>
                </a:solidFill>
                <a:latin typeface="Open Sauce"/>
                <a:ea typeface="Open Sauce"/>
                <a:cs typeface="Open Sauce"/>
                <a:sym typeface="Open Sauce"/>
              </a:rPr>
              <a:t>.</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25000"/>
          </a:schemeClr>
        </a:solidFill>
        <a:effectLst/>
      </p:bgPr>
    </p:bg>
    <p:spTree>
      <p:nvGrpSpPr>
        <p:cNvPr id="1" name=""/>
        <p:cNvGrpSpPr/>
        <p:nvPr/>
      </p:nvGrpSpPr>
      <p:grpSpPr>
        <a:xfrm>
          <a:off x="0" y="0"/>
          <a:ext cx="0" cy="0"/>
          <a:chOff x="0" y="0"/>
          <a:chExt cx="0" cy="0"/>
        </a:xfrm>
      </p:grpSpPr>
      <p:sp>
        <p:nvSpPr>
          <p:cNvPr id="15" name="TextBox 15"/>
          <p:cNvSpPr txBox="1"/>
          <p:nvPr/>
        </p:nvSpPr>
        <p:spPr>
          <a:xfrm>
            <a:off x="989511" y="1713610"/>
            <a:ext cx="14859000" cy="4151457"/>
          </a:xfrm>
          <a:prstGeom prst="rect">
            <a:avLst/>
          </a:prstGeom>
        </p:spPr>
        <p:txBody>
          <a:bodyPr wrap="square" lIns="0" tIns="0" rIns="0" bIns="0" rtlCol="0" anchor="t">
            <a:spAutoFit/>
          </a:bodyPr>
          <a:lstStyle/>
          <a:p>
            <a:pPr marL="750196" lvl="1" indent="-457200">
              <a:lnSpc>
                <a:spcPts val="4071"/>
              </a:lnSpc>
              <a:buFont typeface="Wingdings" panose="05000000000000000000" pitchFamily="2" charset="2"/>
              <a:buChar char="q"/>
            </a:pPr>
            <a:r>
              <a:rPr lang="en-US" sz="2600" dirty="0">
                <a:solidFill>
                  <a:srgbClr val="000000"/>
                </a:solidFill>
                <a:latin typeface="Open Sauce" panose="020B0604020202020204" charset="0"/>
                <a:ea typeface="Open Sauce"/>
                <a:cs typeface="Open Sauce"/>
                <a:sym typeface="Open Sauce"/>
              </a:rPr>
              <a:t>Removed 31 rows (0.058%) that had missing values across </a:t>
            </a:r>
            <a:r>
              <a:rPr lang="en-US" sz="2600" dirty="0">
                <a:latin typeface="Open Sauce" panose="020B0604020202020204" charset="0"/>
              </a:rPr>
              <a:t>multiple columns</a:t>
            </a:r>
            <a:r>
              <a:rPr lang="en-US" sz="2600" dirty="0">
                <a:solidFill>
                  <a:srgbClr val="000000"/>
                </a:solidFill>
                <a:latin typeface="Open Sauce" panose="020B0604020202020204" charset="0"/>
                <a:sym typeface="Open Sauce"/>
              </a:rPr>
              <a:t> </a:t>
            </a:r>
            <a:r>
              <a:rPr lang="en-US" sz="2600" dirty="0">
                <a:solidFill>
                  <a:srgbClr val="000000"/>
                </a:solidFill>
                <a:latin typeface="Open Sauce" panose="020B0604020202020204" charset="0"/>
                <a:ea typeface="Open Sauce"/>
                <a:cs typeface="Open Sauce"/>
                <a:sym typeface="Open Sauce"/>
              </a:rPr>
              <a:t>to ensure data consistency. </a:t>
            </a:r>
          </a:p>
          <a:p>
            <a:pPr marL="750196" lvl="1" indent="-457200">
              <a:lnSpc>
                <a:spcPts val="4071"/>
              </a:lnSpc>
              <a:buFont typeface="Wingdings" panose="05000000000000000000" pitchFamily="2" charset="2"/>
              <a:buChar char="q"/>
            </a:pPr>
            <a:r>
              <a:rPr lang="en-US" sz="2600" dirty="0">
                <a:solidFill>
                  <a:srgbClr val="000000"/>
                </a:solidFill>
                <a:latin typeface="Open Sauce" panose="020B0604020202020204" charset="0"/>
                <a:ea typeface="Open Sauce"/>
                <a:cs typeface="Open Sauce"/>
                <a:sym typeface="Open Sauce"/>
              </a:rPr>
              <a:t>Deleted irrelevant columns that did not contribute to the analysis.</a:t>
            </a:r>
          </a:p>
          <a:p>
            <a:pPr marL="750196" lvl="1" indent="-457200">
              <a:lnSpc>
                <a:spcPts val="4071"/>
              </a:lnSpc>
              <a:buFont typeface="Wingdings" panose="05000000000000000000" pitchFamily="2" charset="2"/>
              <a:buChar char="q"/>
            </a:pPr>
            <a:r>
              <a:rPr lang="en-US" sz="2600" dirty="0">
                <a:solidFill>
                  <a:srgbClr val="000000"/>
                </a:solidFill>
                <a:latin typeface="Open Sauce" panose="020B0604020202020204" charset="0"/>
                <a:ea typeface="Open Sauce"/>
                <a:cs typeface="Open Sauce"/>
                <a:sym typeface="Open Sauce"/>
              </a:rPr>
              <a:t>Verified and confirmed that there were no duplicate records.</a:t>
            </a:r>
          </a:p>
          <a:p>
            <a:pPr marL="750196" lvl="1" indent="-457200">
              <a:lnSpc>
                <a:spcPts val="4071"/>
              </a:lnSpc>
              <a:buFont typeface="Wingdings" panose="05000000000000000000" pitchFamily="2" charset="2"/>
              <a:buChar char="q"/>
            </a:pPr>
            <a:r>
              <a:rPr lang="en-US" sz="2600" dirty="0">
                <a:solidFill>
                  <a:srgbClr val="000000"/>
                </a:solidFill>
                <a:latin typeface="Open Sauce" panose="020B0604020202020204" charset="0"/>
                <a:ea typeface="Open Sauce"/>
                <a:cs typeface="Open Sauce"/>
                <a:sym typeface="Open Sauce"/>
              </a:rPr>
              <a:t>Created a new column for revenue by multiplying the unit price of a product by its quantity.</a:t>
            </a:r>
          </a:p>
          <a:p>
            <a:pPr marL="750196" lvl="1" indent="-457200">
              <a:lnSpc>
                <a:spcPts val="4071"/>
              </a:lnSpc>
              <a:buFont typeface="Wingdings" panose="05000000000000000000" pitchFamily="2" charset="2"/>
              <a:buChar char="q"/>
            </a:pPr>
            <a:r>
              <a:rPr lang="en-US" sz="2600" dirty="0">
                <a:solidFill>
                  <a:srgbClr val="000000"/>
                </a:solidFill>
                <a:latin typeface="Open Sauce" panose="020B0604020202020204" charset="0"/>
                <a:ea typeface="Open Sauce"/>
                <a:cs typeface="Open Sauce"/>
                <a:sym typeface="Open Sauce"/>
              </a:rPr>
              <a:t>Standardized data types for consistency across text, numeric, currency, and date fields.</a:t>
            </a:r>
          </a:p>
          <a:p>
            <a:pPr marL="750196" lvl="1" indent="-457200">
              <a:lnSpc>
                <a:spcPts val="4071"/>
              </a:lnSpc>
              <a:buFont typeface="Wingdings" panose="05000000000000000000" pitchFamily="2" charset="2"/>
              <a:buChar char="q"/>
            </a:pPr>
            <a:r>
              <a:rPr lang="en-US" sz="2600" dirty="0">
                <a:latin typeface="Open Sauce" panose="020B0604020202020204" charset="0"/>
              </a:rPr>
              <a:t>Created bins for unit price and tenure month to segment the data for analysis.</a:t>
            </a:r>
          </a:p>
        </p:txBody>
      </p:sp>
      <p:sp>
        <p:nvSpPr>
          <p:cNvPr id="16" name="TextBox 16"/>
          <p:cNvSpPr txBox="1"/>
          <p:nvPr/>
        </p:nvSpPr>
        <p:spPr>
          <a:xfrm>
            <a:off x="914400" y="816605"/>
            <a:ext cx="6630829" cy="687624"/>
          </a:xfrm>
          <a:prstGeom prst="rect">
            <a:avLst/>
          </a:prstGeom>
        </p:spPr>
        <p:txBody>
          <a:bodyPr lIns="0" tIns="0" rIns="0" bIns="0" rtlCol="0" anchor="t">
            <a:spAutoFit/>
          </a:bodyPr>
          <a:lstStyle/>
          <a:p>
            <a:pPr algn="ctr">
              <a:lnSpc>
                <a:spcPts val="5849"/>
              </a:lnSpc>
              <a:spcBef>
                <a:spcPct val="0"/>
              </a:spcBef>
            </a:pPr>
            <a:r>
              <a:rPr lang="en-US" sz="4000" b="1" dirty="0">
                <a:solidFill>
                  <a:schemeClr val="accent2">
                    <a:lumMod val="50000"/>
                  </a:schemeClr>
                </a:solidFill>
                <a:latin typeface="Open Sauce Bold"/>
                <a:ea typeface="Open Sauce Bold"/>
                <a:cs typeface="Open Sauce Bold"/>
                <a:sym typeface="Open Sauce Bold"/>
              </a:rPr>
              <a:t>Data Preparation Steps</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26000"/>
          </a:schemeClr>
        </a:solidFill>
        <a:effectLst/>
      </p:bgPr>
    </p:bg>
    <p:spTree>
      <p:nvGrpSpPr>
        <p:cNvPr id="1" name=""/>
        <p:cNvGrpSpPr/>
        <p:nvPr/>
      </p:nvGrpSpPr>
      <p:grpSpPr>
        <a:xfrm>
          <a:off x="0" y="0"/>
          <a:ext cx="0" cy="0"/>
          <a:chOff x="0" y="0"/>
          <a:chExt cx="0" cy="0"/>
        </a:xfrm>
      </p:grpSpPr>
      <p:sp>
        <p:nvSpPr>
          <p:cNvPr id="2" name="TextBox 2"/>
          <p:cNvSpPr txBox="1"/>
          <p:nvPr/>
        </p:nvSpPr>
        <p:spPr>
          <a:xfrm>
            <a:off x="1219200" y="1970534"/>
            <a:ext cx="13258800" cy="7309180"/>
          </a:xfrm>
          <a:prstGeom prst="rect">
            <a:avLst/>
          </a:prstGeom>
        </p:spPr>
        <p:txBody>
          <a:bodyPr wrap="square" lIns="0" tIns="0" rIns="0" bIns="0" rtlCol="0" anchor="t">
            <a:spAutoFit/>
          </a:bodyPr>
          <a:lstStyle/>
          <a:p>
            <a:pPr marL="634459" lvl="1" indent="-342900" algn="l">
              <a:lnSpc>
                <a:spcPts val="4051"/>
              </a:lnSpc>
              <a:buFont typeface="Wingdings" panose="05000000000000000000" pitchFamily="2" charset="2"/>
              <a:buChar char="q"/>
            </a:pPr>
            <a:r>
              <a:rPr lang="en-US" sz="2500" dirty="0">
                <a:solidFill>
                  <a:srgbClr val="000000"/>
                </a:solidFill>
                <a:latin typeface="Open Sauce"/>
                <a:ea typeface="Open Sauce"/>
                <a:cs typeface="Open Sauce"/>
                <a:sym typeface="Open Sauce"/>
              </a:rPr>
              <a:t>Female customers contribute to a larger share of total revenue (62.17%) compared to male customers (37.83%).</a:t>
            </a:r>
          </a:p>
          <a:p>
            <a:pPr marL="634459" lvl="1" indent="-342900" algn="l">
              <a:lnSpc>
                <a:spcPts val="4051"/>
              </a:lnSpc>
              <a:buFont typeface="Wingdings" panose="05000000000000000000" pitchFamily="2" charset="2"/>
              <a:buChar char="q"/>
            </a:pPr>
            <a:r>
              <a:rPr lang="en-US" sz="2500" dirty="0">
                <a:solidFill>
                  <a:srgbClr val="000000"/>
                </a:solidFill>
                <a:latin typeface="Open Sauce"/>
                <a:ea typeface="Open Sauce"/>
                <a:cs typeface="Open Sauce"/>
                <a:sym typeface="Open Sauce"/>
              </a:rPr>
              <a:t>Revenue fluctuate across the year, with a noticeable increase towards the end of the year, indicating possible seasonal demand.</a:t>
            </a:r>
          </a:p>
          <a:p>
            <a:pPr marL="634459" lvl="1" indent="-342900" algn="l">
              <a:lnSpc>
                <a:spcPts val="4051"/>
              </a:lnSpc>
              <a:buFont typeface="Wingdings" panose="05000000000000000000" pitchFamily="2" charset="2"/>
              <a:buChar char="q"/>
            </a:pPr>
            <a:r>
              <a:rPr lang="en-US" sz="2500" dirty="0">
                <a:solidFill>
                  <a:srgbClr val="000000"/>
                </a:solidFill>
                <a:latin typeface="Open Sauce"/>
                <a:ea typeface="Open Sauce"/>
                <a:cs typeface="Open Sauce"/>
                <a:sym typeface="Open Sauce"/>
              </a:rPr>
              <a:t>Products belong to office generate the highest sales volume, followed by  Apparel and Drinkware.</a:t>
            </a:r>
          </a:p>
          <a:p>
            <a:pPr marL="634459" lvl="1" indent="-342900" algn="l">
              <a:lnSpc>
                <a:spcPts val="4051"/>
              </a:lnSpc>
              <a:buFont typeface="Wingdings" panose="05000000000000000000" pitchFamily="2" charset="2"/>
              <a:buChar char="q"/>
            </a:pPr>
            <a:r>
              <a:rPr lang="en-US" sz="2500" dirty="0">
                <a:solidFill>
                  <a:srgbClr val="000000"/>
                </a:solidFill>
                <a:latin typeface="Open Sauce"/>
                <a:ea typeface="Open Sauce"/>
                <a:cs typeface="Open Sauce"/>
                <a:sym typeface="Open Sauce"/>
              </a:rPr>
              <a:t>Some cities, such as Chicago and California outperform others in revenue, suggesting opportunities for targeted marketing and expansion in high-performing regions.</a:t>
            </a:r>
          </a:p>
          <a:p>
            <a:pPr marL="634459" lvl="1" indent="-342900" algn="l">
              <a:lnSpc>
                <a:spcPts val="4051"/>
              </a:lnSpc>
              <a:buFont typeface="Wingdings" panose="05000000000000000000" pitchFamily="2" charset="2"/>
              <a:buChar char="q"/>
            </a:pPr>
            <a:r>
              <a:rPr lang="en-US" sz="2500" dirty="0">
                <a:solidFill>
                  <a:srgbClr val="000000"/>
                </a:solidFill>
                <a:latin typeface="Open Sauce"/>
                <a:ea typeface="Open Sauce"/>
                <a:cs typeface="Open Sauce"/>
                <a:sym typeface="Open Sauce"/>
              </a:rPr>
              <a:t>A large proportion of purchases are made at lower price points, indicating price sensitivity among customers.</a:t>
            </a:r>
          </a:p>
          <a:p>
            <a:pPr marL="634459" lvl="1" indent="-342900" algn="l">
              <a:lnSpc>
                <a:spcPts val="4051"/>
              </a:lnSpc>
              <a:buFont typeface="Wingdings" panose="05000000000000000000" pitchFamily="2" charset="2"/>
              <a:buChar char="q"/>
            </a:pPr>
            <a:r>
              <a:rPr lang="en-US" sz="2500" dirty="0">
                <a:solidFill>
                  <a:srgbClr val="000000"/>
                </a:solidFill>
                <a:latin typeface="Open Sauce"/>
                <a:ea typeface="Open Sauce"/>
                <a:cs typeface="Open Sauce"/>
                <a:sym typeface="Open Sauce"/>
              </a:rPr>
              <a:t>Customer retention is strong up to 36 months but declines sharply after that , indicating a lower long-term customer association with the business.</a:t>
            </a:r>
          </a:p>
          <a:p>
            <a:pPr marL="0" lvl="0" indent="0" algn="l">
              <a:lnSpc>
                <a:spcPts val="4051"/>
              </a:lnSpc>
            </a:pPr>
            <a:endParaRPr lang="en-US" sz="2700" dirty="0">
              <a:solidFill>
                <a:srgbClr val="000000"/>
              </a:solidFill>
              <a:latin typeface="Open Sauce"/>
              <a:ea typeface="Open Sauce"/>
              <a:cs typeface="Open Sauce"/>
              <a:sym typeface="Open Sauce"/>
            </a:endParaRPr>
          </a:p>
        </p:txBody>
      </p:sp>
      <p:sp>
        <p:nvSpPr>
          <p:cNvPr id="13" name="TextBox 13"/>
          <p:cNvSpPr txBox="1"/>
          <p:nvPr/>
        </p:nvSpPr>
        <p:spPr>
          <a:xfrm>
            <a:off x="1524000" y="1007286"/>
            <a:ext cx="10406231" cy="752707"/>
          </a:xfrm>
          <a:prstGeom prst="rect">
            <a:avLst/>
          </a:prstGeom>
        </p:spPr>
        <p:txBody>
          <a:bodyPr lIns="0" tIns="0" rIns="0" bIns="0" rtlCol="0" anchor="t">
            <a:spAutoFit/>
          </a:bodyPr>
          <a:lstStyle/>
          <a:p>
            <a:pPr algn="l">
              <a:lnSpc>
                <a:spcPts val="6618"/>
              </a:lnSpc>
            </a:pPr>
            <a:r>
              <a:rPr lang="en-US" sz="4000" b="1" spc="-94" dirty="0">
                <a:solidFill>
                  <a:schemeClr val="accent2">
                    <a:lumMod val="50000"/>
                  </a:schemeClr>
                </a:solidFill>
                <a:latin typeface="Open Sauce Bold"/>
                <a:ea typeface="Open Sauce Bold"/>
                <a:cs typeface="Open Sauce Bold"/>
                <a:sym typeface="Open Sauce Bold"/>
              </a:rPr>
              <a:t>Key Insights from the Dashboard</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48000"/>
          </a:schemeClr>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D13950-9510-A976-ED54-78563B6F7A1D}"/>
              </a:ext>
            </a:extLst>
          </p:cNvPr>
          <p:cNvSpPr txBox="1"/>
          <p:nvPr/>
        </p:nvSpPr>
        <p:spPr>
          <a:xfrm>
            <a:off x="4800600" y="3924300"/>
            <a:ext cx="6545580" cy="1938992"/>
          </a:xfrm>
          <a:prstGeom prst="rect">
            <a:avLst/>
          </a:prstGeom>
          <a:noFill/>
        </p:spPr>
        <p:txBody>
          <a:bodyPr wrap="square" rtlCol="0">
            <a:spAutoFit/>
          </a:bodyPr>
          <a:lstStyle/>
          <a:p>
            <a:pPr algn="ctr"/>
            <a:r>
              <a:rPr lang="en-US" sz="12000" b="1" dirty="0">
                <a:solidFill>
                  <a:schemeClr val="accent2">
                    <a:lumMod val="50000"/>
                  </a:schemeClr>
                </a:solidFill>
                <a:latin typeface="Pristina" panose="03060402040406080204" pitchFamily="66" charset="0"/>
              </a:rPr>
              <a:t>Thank You</a:t>
            </a:r>
          </a:p>
        </p:txBody>
      </p:sp>
    </p:spTree>
    <p:extLst>
      <p:ext uri="{BB962C8B-B14F-4D97-AF65-F5344CB8AC3E}">
        <p14:creationId xmlns:p14="http://schemas.microsoft.com/office/powerpoint/2010/main" val="42677344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262</TotalTime>
  <Words>371</Words>
  <Application>Microsoft Office PowerPoint</Application>
  <PresentationFormat>Custom</PresentationFormat>
  <Paragraphs>27</Paragraphs>
  <Slides>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Wingdings</vt:lpstr>
      <vt:lpstr>Pristina</vt:lpstr>
      <vt:lpstr>Open Sauce</vt:lpstr>
      <vt:lpstr>Open Sauce Bold</vt:lpstr>
      <vt:lpstr>Arial</vt:lpstr>
      <vt:lpstr>Wingdings 3</vt:lpstr>
      <vt:lpstr>Trebuchet MS</vt:lpstr>
      <vt:lpstr>Calibri</vt:lpstr>
      <vt:lpstr>Facet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online shopping business</dc:title>
  <dc:creator>Administrator</dc:creator>
  <cp:lastModifiedBy>piyumi perera</cp:lastModifiedBy>
  <cp:revision>8</cp:revision>
  <dcterms:created xsi:type="dcterms:W3CDTF">2006-08-16T00:00:00Z</dcterms:created>
  <dcterms:modified xsi:type="dcterms:W3CDTF">2025-07-17T02:53:58Z</dcterms:modified>
  <dc:identifier>DAGfRbjaR2I</dc:identifier>
</cp:coreProperties>
</file>